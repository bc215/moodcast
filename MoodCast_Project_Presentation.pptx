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장에서는 MoodCast가 어떤 서비스인지 한 문장으로 소개합니다. 감정 중심 SNS라는 차별점과 팀 프로젝트라는 점, 그리고 핵심 기능이 실제로 완성되었다는 점을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슬라이드에서는 서비스의 전체 방향성을 간단히 설명합니다. 무드 선택에서 시작해 피드 탐색과 상호작용으로 이어지는 구조를 보여주면 다음 슬라이드 이해가 쉬워집니다.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기획 배경에서는 왜 이 서비스를 만들었는지를 설명합니다. 기존 SNS가 콘텐츠 중심이라면, MoodCast는 감정을 중심으로 관계를 만드는 방향이라는 점을 비교해서 전달합니다.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 흐름은 전체 서비스 구조를 설명하는 중심 슬라이드입니다. 로그인 이후의 행동이 자연스럽게 감정 선택과 피드 소비, 다시 상호작용으로 이어진다고 말해주면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슬라이드에서는 사용자가 실제로 쓰게 되는 기능을 묶어서 보여줍니다. 피드, 글쓰기, 프로필처럼 화면 캡처가 직관적인 요소를 중심으로 설명하면 설득력이 높습니다.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실시간 기능은 서비스의 체감 완성도를 보여주는 부분입니다. 채팅뿐 아니라 좋아요, 댓글, 팔로우, 알림이 실시간으로 이어진다는 점을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관리자 시스템은 서비스 운영 관점에서 중요한 파트입니다. 사용자와 콘텐츠를 관리하고, 신고와 로그를 확인할 수 있다는 점을 짧게 요약합니다.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기술 스택은 너무 길게 나열하지 않고 카테고리별로 묶어서 설명합니다. 프론트엔드, 백엔드, 실시간, 인프라로 나누면 발표 흐름이 깔끔합니다.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특장점은 기능 목록이 아니라 구현 방식의 가치로 설명합니다. 반응형, 권한 제어, 파일 처리, 통계 시각화처럼 실제 구현에서 쌓인 역량을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팀 역할은 발표에서 협업 구조를 보여주는 좋은 장치입니다. 각 팀원이 맡은 기능이 명확했고, 서로의 영역이 자연스럽게 이어졌다는 점을 전달합니다.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완성한 범위와 제외한 범위를 솔직하게 정리하는 장면입니다. 구현 제외 항목도 이유를 명확하게 설명하면 오히려 프로젝트 관리 역량이 드러납니다.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장에서는 MoodCast의 핵심 가치를 한 번 더 정리하고 발표를 마무리합니다. 감정 기반 소셜 미디어라는 메시지와 실제 구현 범위를 다시 연결해 주면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566928"/>
            <a:ext cx="2057400" cy="329184"/>
          </a:xfrm>
          <a:prstGeom prst="round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7121F"/>
                </a:solidFill>
                <a:latin typeface="Malgun Gothic"/>
              </a:rPr>
              <a:t>PORTFOLIO /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4480560" cy="96012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F3F6FC"/>
                </a:solidFill>
                <a:latin typeface="Malgun Gothic"/>
              </a:rPr>
              <a:t>MoodCast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892807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B184FF"/>
                </a:solidFill>
                <a:latin typeface="Malgun Gothic"/>
              </a:rPr>
              <a:t>감정 중심 소셜 미디어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233172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ADBAD0"/>
                </a:solidFill>
                <a:latin typeface="Malgun Gothic"/>
              </a:rPr>
              <a:t>팀 프로젝트 / 4인 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2944368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F3F6FC"/>
                </a:solidFill>
                <a:latin typeface="Malgun Gothic"/>
              </a:rPr>
              <a:t>사용자의 감정(Mood)을 중심으로</a:t>
            </a:r>
          </a:p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F3F6FC"/>
                </a:solidFill>
                <a:latin typeface="Malgun Gothic"/>
              </a:rPr>
              <a:t>공감·댓글·채팅이 연결되는 SNS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3895344"/>
            <a:ext cx="1371600" cy="329184"/>
          </a:xfrm>
          <a:prstGeom prst="roundRect">
            <a:avLst/>
          </a:prstGeom>
          <a:solidFill>
            <a:srgbClr val="122136"/>
          </a:solidFill>
          <a:ln w="16510">
            <a:solidFill>
              <a:srgbClr val="12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React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48256" y="3895344"/>
            <a:ext cx="1508760" cy="329184"/>
          </a:xfrm>
          <a:prstGeom prst="roundRect">
            <a:avLst/>
          </a:prstGeom>
          <a:solidFill>
            <a:srgbClr val="122136"/>
          </a:solidFill>
          <a:ln w="16510">
            <a:solidFill>
              <a:srgbClr val="12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Spring Boot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895344"/>
            <a:ext cx="1097280" cy="329184"/>
          </a:xfrm>
          <a:prstGeom prst="roundRect">
            <a:avLst/>
          </a:prstGeom>
          <a:solidFill>
            <a:srgbClr val="122136"/>
          </a:solidFill>
          <a:ln w="16510">
            <a:solidFill>
              <a:srgbClr val="12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57200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3DF4C4"/>
                </a:solidFill>
                <a:latin typeface="Malgun Gothic"/>
              </a:rPr>
              <a:t>핵심 기능 구현 완료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804672"/>
            <a:ext cx="5394960" cy="5303520"/>
          </a:xfrm>
          <a:prstGeom prst="roundRect">
            <a:avLst/>
          </a:prstGeom>
          <a:solidFill>
            <a:srgbClr val="122136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er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794357"/>
            <a:ext cx="5248656" cy="332414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36792" y="877824"/>
            <a:ext cx="5248656" cy="5157216"/>
          </a:xfrm>
          <a:prstGeom prst="roundRect">
            <a:avLst/>
          </a:prstGeom>
          <a:solidFill>
            <a:srgbClr val="000000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28232" y="950976"/>
            <a:ext cx="1828800" cy="256032"/>
          </a:xfrm>
          <a:prstGeom prst="round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REAL SCREENS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6236208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ADBAD0"/>
                </a:solidFill>
                <a:latin typeface="Malgun Gothic"/>
              </a:rPr>
              <a:t>MoodCast Project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373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ADBAD0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38912"/>
            <a:ext cx="1645920" cy="310896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F3F6FC"/>
                </a:solidFill>
                <a:latin typeface="Malgun Gothic"/>
              </a:rP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ADBAD0"/>
                </a:solidFill>
                <a:latin typeface="Malgun Gothic"/>
              </a:rPr>
              <a:t>감정 기반 소셜 네트워크를 지향하는 MoodCast의 핵심 방향을 요약합니다.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88720" cy="73152"/>
          </a:xfrm>
          <a:prstGeom prst="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011680"/>
            <a:ext cx="5120640" cy="406908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3DF4C4"/>
                </a:solidFill>
                <a:latin typeface="Malgun Gothic"/>
              </a:rPr>
              <a:t>핵심 한 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70048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3F6FC"/>
                </a:solidFill>
                <a:latin typeface="Malgun Gothic"/>
              </a:rPr>
              <a:t>감정을 선택하고,</a:t>
            </a:r>
          </a:p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F3F6FC"/>
                </a:solidFill>
                <a:latin typeface="Malgun Gothic"/>
              </a:rPr>
              <a:t>그 감정에 맞는 게시글을 작성·공유하는 SNS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4389120" cy="137160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무드 선택 → 피드 탐색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공감 / 댓글 / 채팅으로 연결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핵심 기능 구현 완료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76672"/>
            <a:ext cx="1645920" cy="310896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완성형 프로젝트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011680"/>
            <a:ext cx="5577840" cy="406908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2212848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F3F6FC"/>
                </a:solidFill>
                <a:latin typeface="Malgun Gothic"/>
              </a:rPr>
              <a:t>핵심 흐름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743200"/>
            <a:ext cx="1078992" cy="1078992"/>
          </a:xfrm>
          <a:prstGeom prst="roundRect">
            <a:avLst/>
          </a:prstGeom>
          <a:solidFill>
            <a:srgbClr val="101D32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90779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7D5DFF"/>
                </a:solidFill>
                <a:latin typeface="Malgun Gothi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291840"/>
            <a:ext cx="950976" cy="32004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F3F6FC"/>
                </a:solidFill>
                <a:latin typeface="Malgun Gothic"/>
              </a:rPr>
              <a:t>무드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163824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ADBAD0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2743200"/>
            <a:ext cx="1078992" cy="1078992"/>
          </a:xfrm>
          <a:prstGeom prst="roundRect">
            <a:avLst/>
          </a:prstGeom>
          <a:solidFill>
            <a:srgbClr val="101D32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290779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3DF4C4"/>
                </a:solidFill>
                <a:latin typeface="Malgun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3291840"/>
            <a:ext cx="950976" cy="32004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F3F6FC"/>
                </a:solidFill>
                <a:latin typeface="Malgun Gothic"/>
              </a:rPr>
              <a:t>피드 탐색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3163824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ADBAD0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2832" y="2743200"/>
            <a:ext cx="1078992" cy="1078992"/>
          </a:xfrm>
          <a:prstGeom prst="roundRect">
            <a:avLst/>
          </a:prstGeom>
          <a:solidFill>
            <a:srgbClr val="101D32"/>
          </a:solidFill>
          <a:ln w="16510">
            <a:solidFill>
              <a:srgbClr val="B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7" y="290779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B184FF"/>
                </a:solidFill>
                <a:latin typeface="Malgun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291840"/>
            <a:ext cx="950976" cy="32004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F3F6FC"/>
                </a:solidFill>
                <a:latin typeface="Malgun Gothic"/>
              </a:rPr>
              <a:t>공감/댓글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0111" y="3163824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ADBAD0"/>
                </a:solidFill>
                <a:latin typeface="Malgun Gothi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59567" y="2743200"/>
            <a:ext cx="1078992" cy="1078992"/>
          </a:xfrm>
          <a:prstGeom prst="roundRect">
            <a:avLst/>
          </a:prstGeom>
          <a:solidFill>
            <a:srgbClr val="101D32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96143" y="290779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3DF4C4"/>
                </a:solidFill>
                <a:latin typeface="Malgun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23576" y="3291840"/>
            <a:ext cx="950976" cy="32004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F3F6FC"/>
                </a:solidFill>
                <a:latin typeface="Malgun Gothic"/>
              </a:rPr>
              <a:t>실시간 채팅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4224528"/>
            <a:ext cx="4754880" cy="786384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ADBAD0"/>
                </a:solidFill>
                <a:latin typeface="Malgun Gothic"/>
              </a:rPr>
              <a:t>MoodCast는 콘텐츠 중심이 아니라 감정 중심의 소통을 목표로 설계되었습니다.</a:t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ADBAD0"/>
                </a:solidFill>
                <a:latin typeface="Malgun Gothic"/>
              </a:rPr>
              <a:t>피드, 게시글, 채팅, 알림이 하나의 사용자 흐름으로 연결됩니다.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373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ADBAD0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38912"/>
            <a:ext cx="1645920" cy="310896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F3F6FC"/>
                </a:solidFill>
                <a:latin typeface="Malgun Gothic"/>
              </a:rPr>
              <a:t>기획 배경과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ADBAD0"/>
                </a:solidFill>
                <a:latin typeface="Malgun Gothic"/>
              </a:rPr>
              <a:t>기존 SNS의 정보 소비 방식과 MoodCast의 차별점을 비교해 보여줍니다.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88720" cy="73152"/>
          </a:xfrm>
          <a:prstGeom prst="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5440680" cy="416052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2176272"/>
            <a:ext cx="1097280" cy="292608"/>
          </a:xfrm>
          <a:prstGeom prst="roundRect">
            <a:avLst/>
          </a:prstGeom>
          <a:solidFill>
            <a:srgbClr val="FF8284"/>
          </a:solidFill>
          <a:ln w="16510">
            <a:solidFill>
              <a:srgbClr val="FF8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기존 SNS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96896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F3F6FC"/>
                </a:solidFill>
                <a:latin typeface="Malgun Gothic"/>
              </a:rPr>
              <a:t>콘텐츠 중심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328416"/>
            <a:ext cx="4480560" cy="137160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무엇을 올릴지 먼저 고민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피드 소비가 관계보다 우선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공감 포인트가 분산되기 쉬움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965960"/>
            <a:ext cx="5440680" cy="416052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10528" y="2176272"/>
            <a:ext cx="1325880" cy="292608"/>
          </a:xfrm>
          <a:prstGeom prst="round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MoodCast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596896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F3F6FC"/>
                </a:solidFill>
                <a:latin typeface="Malgun Gothic"/>
              </a:rPr>
              <a:t>감정 중심 소통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328416"/>
            <a:ext cx="4480560" cy="137160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지금의 감정을 먼저 선택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감정에 맞는 공감형 피드 제공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채팅·알림으로 연결되는 커뮤니티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7136" y="4553712"/>
            <a:ext cx="3200400" cy="73152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473659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B184FF"/>
                </a:solidFill>
                <a:latin typeface="Malgun Gothic"/>
              </a:rPr>
              <a:t>공감 기반 커뮤니티 경험 제공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373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ADBAD0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38912"/>
            <a:ext cx="1645920" cy="310896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F3F6FC"/>
                </a:solidFill>
                <a:latin typeface="Malgun Gothic"/>
              </a:rPr>
              <a:t>핵심 사용자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ADBAD0"/>
                </a:solidFill>
                <a:latin typeface="Malgun Gothic"/>
              </a:rPr>
              <a:t>사용자가 서비스 안에서 어떤 순서로 움직이는지 한눈에 보여줍니다.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88720" cy="73152"/>
          </a:xfrm>
          <a:prstGeom prst="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1828800" cy="178308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" y="2459736"/>
            <a:ext cx="402336" cy="402336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2514600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07121F"/>
                </a:solidFill>
                <a:latin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81527"/>
            <a:ext cx="1682496" cy="512064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3F6FC"/>
                </a:solidFill>
                <a:latin typeface="Malgun Gothic"/>
              </a:rPr>
              <a:t>로그인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990087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ADBAD0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7168" y="2331720"/>
            <a:ext cx="1828800" cy="178308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96896" y="2459736"/>
            <a:ext cx="402336" cy="402336"/>
          </a:xfrm>
          <a:prstGeom prst="round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96896" y="2514600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07121F"/>
                </a:solidFill>
                <a:latin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081527"/>
            <a:ext cx="1682496" cy="512064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3F6FC"/>
                </a:solidFill>
                <a:latin typeface="Malgun Gothic"/>
              </a:rPr>
              <a:t>무드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990087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ADBAD0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2331720"/>
            <a:ext cx="1828800" cy="178308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B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17136" y="2459736"/>
            <a:ext cx="402336" cy="402336"/>
          </a:xfrm>
          <a:prstGeom prst="roundRect">
            <a:avLst/>
          </a:prstGeom>
          <a:solidFill>
            <a:srgbClr val="B184FF"/>
          </a:solidFill>
          <a:ln w="16510">
            <a:solidFill>
              <a:srgbClr val="B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2514600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07121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081527"/>
            <a:ext cx="1682496" cy="512064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3F6FC"/>
                </a:solidFill>
                <a:latin typeface="Malgun Gothic"/>
              </a:rPr>
              <a:t>피드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990087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ADBAD0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7648" y="2331720"/>
            <a:ext cx="1828800" cy="178308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37376" y="2459736"/>
            <a:ext cx="402336" cy="402336"/>
          </a:xfrm>
          <a:prstGeom prst="round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2514600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07121F"/>
                </a:solidFill>
                <a:latin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081527"/>
            <a:ext cx="1682496" cy="512064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3F6FC"/>
                </a:solidFill>
                <a:latin typeface="Malgun Gothic"/>
              </a:rPr>
              <a:t>게시글 작성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990087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ADBAD0"/>
                </a:solidFill>
                <a:latin typeface="Malgun Gothi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2331720"/>
            <a:ext cx="1828800" cy="178308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57615" y="2459736"/>
            <a:ext cx="402336" cy="402336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5" y="2514600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07121F"/>
                </a:solidFill>
                <a:latin typeface="Malgun 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081527"/>
            <a:ext cx="1682496" cy="512064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3F6FC"/>
                </a:solidFill>
                <a:latin typeface="Malgun Gothic"/>
              </a:rPr>
              <a:t>좋아요/댓글/북마크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19" y="2990087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ADBAD0"/>
                </a:solidFill>
                <a:latin typeface="Malgun Gothic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68128" y="2331720"/>
            <a:ext cx="1828800" cy="178308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77855" y="2459736"/>
            <a:ext cx="402336" cy="402336"/>
          </a:xfrm>
          <a:prstGeom prst="round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77855" y="2514600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 i="0">
                <a:solidFill>
                  <a:srgbClr val="07121F"/>
                </a:solidFill>
                <a:latin typeface="Malgun Gothic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3081527"/>
            <a:ext cx="1682496" cy="512064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3F6FC"/>
                </a:solidFill>
                <a:latin typeface="Malgun Gothic"/>
              </a:rPr>
              <a:t>실시간 채팅/알림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68172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ADBAD0"/>
                </a:solidFill>
                <a:latin typeface="Malgun Gothic"/>
              </a:rPr>
              <a:t>이 흐름은 로그인 이후 감정 선택부터 콘텐츠 소비, 상호작용, 실시간 연결까지 이어지는 하나의 사용자 여정을 보여줍니다.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373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ADBAD0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38912"/>
            <a:ext cx="1645920" cy="310896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F3F6FC"/>
                </a:solidFill>
                <a:latin typeface="Malgun Gothic"/>
              </a:rPr>
              <a:t>사용자 주요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ADBAD0"/>
                </a:solidFill>
                <a:latin typeface="Malgun Gothic"/>
              </a:rPr>
              <a:t>사용자가 실제로 가장 자주 사용하는 핵심 화면과 기능을 정리합니다.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88720" cy="73152"/>
          </a:xfrm>
          <a:prstGeom prst="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977639" cy="448056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3DF4C4"/>
                </a:solidFill>
                <a:latin typeface="Malgun Gothic"/>
              </a:rPr>
              <a:t>핵심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70048"/>
            <a:ext cx="3337560" cy="228600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ADBAD0"/>
                </a:solidFill>
                <a:latin typeface="Malgun Gothic"/>
              </a:rPr>
              <a:t>• 공통 UI / 반응형 레이아웃</a:t>
            </a:r>
          </a:p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ADBAD0"/>
                </a:solidFill>
                <a:latin typeface="Malgun Gothic"/>
              </a:rPr>
              <a:t>• 회원가입, 로그인, 카카오 로그인</a:t>
            </a:r>
          </a:p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ADBAD0"/>
                </a:solidFill>
                <a:latin typeface="Malgun Gothic"/>
              </a:rPr>
              <a:t>• 프로필 관리</a:t>
            </a:r>
          </a:p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ADBAD0"/>
                </a:solidFill>
                <a:latin typeface="Malgun Gothic"/>
              </a:rPr>
              <a:t>• 무드 기반 피드</a:t>
            </a:r>
          </a:p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ADBAD0"/>
                </a:solidFill>
                <a:latin typeface="Malgun Gothic"/>
              </a:rPr>
              <a:t>• 게시글 CRUD</a:t>
            </a:r>
          </a:p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ADBAD0"/>
                </a:solidFill>
                <a:latin typeface="Malgun Gothic"/>
              </a:rPr>
              <a:t>• 검색 / 해시태그 탐색</a:t>
            </a:r>
          </a:p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ADBAD0"/>
                </a:solidFill>
                <a:latin typeface="Malgun Gothic"/>
              </a:rPr>
              <a:t>• 북마크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138928"/>
            <a:ext cx="1463040" cy="310896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User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36592" y="1965960"/>
            <a:ext cx="6912864" cy="4480560"/>
          </a:xfrm>
          <a:prstGeom prst="roundRect">
            <a:avLst/>
          </a:prstGeom>
          <a:solidFill>
            <a:srgbClr val="122136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ser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063496"/>
            <a:ext cx="6766560" cy="428548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809744" y="2039112"/>
            <a:ext cx="6766560" cy="4334256"/>
          </a:xfrm>
          <a:prstGeom prst="roundRect">
            <a:avLst/>
          </a:prstGeom>
          <a:solidFill>
            <a:srgbClr val="000000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01184" y="2112264"/>
            <a:ext cx="1828800" cy="256032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FEED / POST /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373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ADBAD0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38912"/>
            <a:ext cx="1645920" cy="310896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REALTIME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F3F6FC"/>
                </a:solidFill>
                <a:latin typeface="Malgun Gothic"/>
              </a:rPr>
              <a:t>실시간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ADBAD0"/>
                </a:solidFill>
                <a:latin typeface="Malgun Gothic"/>
              </a:rPr>
              <a:t>채팅과 알림처럼 즉시 반응해야 하는 기능을 중심으로 보여줍니다.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88720" cy="73152"/>
          </a:xfrm>
          <a:prstGeom prst="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977639" cy="448056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3DF4C4"/>
                </a:solidFill>
                <a:latin typeface="Malgun Gothic"/>
              </a:rPr>
              <a:t>핵심 포인트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70048"/>
            <a:ext cx="3383280" cy="24688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ADBAD0"/>
                </a:solidFill>
                <a:latin typeface="Malgun Gothic"/>
              </a:rPr>
              <a:t>• WebSocket + STOMP 기반 채팅</a:t>
            </a:r>
          </a:p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ADBAD0"/>
                </a:solidFill>
                <a:latin typeface="Malgun Gothic"/>
              </a:rPr>
              <a:t>• 1:1 및 그룹 채팅방</a:t>
            </a:r>
          </a:p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ADBAD0"/>
                </a:solidFill>
                <a:latin typeface="Malgun Gothic"/>
              </a:rPr>
              <a:t>• 메시지 읽음 상태 동기화</a:t>
            </a:r>
          </a:p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ADBAD0"/>
                </a:solidFill>
                <a:latin typeface="Malgun Gothic"/>
              </a:rPr>
              <a:t>• 좋아요, 댓글, 팔로우, 공지 알림</a:t>
            </a:r>
          </a:p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ADBAD0"/>
                </a:solidFill>
                <a:latin typeface="Malgun Gothic"/>
              </a:rPr>
              <a:t>• 실시간 사용자 경험 강화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193792"/>
            <a:ext cx="1737360" cy="310896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Live Experience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36592" y="1965960"/>
            <a:ext cx="6912864" cy="4480560"/>
          </a:xfrm>
          <a:prstGeom prst="roundRect">
            <a:avLst/>
          </a:prstGeom>
          <a:solidFill>
            <a:srgbClr val="122136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al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063496"/>
            <a:ext cx="6766560" cy="428548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809744" y="2039112"/>
            <a:ext cx="6766560" cy="4334256"/>
          </a:xfrm>
          <a:prstGeom prst="roundRect">
            <a:avLst/>
          </a:prstGeom>
          <a:solidFill>
            <a:srgbClr val="000000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01184" y="2112264"/>
            <a:ext cx="1828800" cy="256032"/>
          </a:xfrm>
          <a:prstGeom prst="round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CHAT / NOTIFICATIONS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373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ADBAD0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38912"/>
            <a:ext cx="1645920" cy="310896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F3F6FC"/>
                </a:solidFill>
                <a:latin typeface="Malgun Gothic"/>
              </a:rPr>
              <a:t>관리자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ADBAD0"/>
                </a:solidFill>
                <a:latin typeface="Malgun Gothic"/>
              </a:rPr>
              <a:t>운영자가 서비스 상태를 모니터링하고 제어할 수 있도록 구성했습니다.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88720" cy="73152"/>
          </a:xfrm>
          <a:prstGeom prst="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977639" cy="448056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3DF4C4"/>
                </a:solidFill>
                <a:latin typeface="Malgun Gothic"/>
              </a:rPr>
              <a:t>관리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70048"/>
            <a:ext cx="3401568" cy="256032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대시보드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회원 관리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콘텐츠 모니터링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신고 관리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통계 및 로그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공지사항 관리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193792"/>
            <a:ext cx="1508760" cy="310896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36592" y="1965960"/>
            <a:ext cx="6912864" cy="4480560"/>
          </a:xfrm>
          <a:prstGeom prst="roundRect">
            <a:avLst/>
          </a:prstGeom>
          <a:solidFill>
            <a:srgbClr val="122136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063496"/>
            <a:ext cx="6766560" cy="428548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809744" y="2039112"/>
            <a:ext cx="6766560" cy="4334256"/>
          </a:xfrm>
          <a:prstGeom prst="roundRect">
            <a:avLst/>
          </a:prstGeom>
          <a:solidFill>
            <a:srgbClr val="000000"/>
          </a:solidFill>
          <a:ln w="16510">
            <a:solidFill>
              <a:srgbClr val="B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01184" y="2112264"/>
            <a:ext cx="1828800" cy="256032"/>
          </a:xfrm>
          <a:prstGeom prst="roundRect">
            <a:avLst/>
          </a:prstGeom>
          <a:solidFill>
            <a:srgbClr val="B184FF"/>
          </a:solidFill>
          <a:ln w="16510">
            <a:solidFill>
              <a:srgbClr val="B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DASHBOARD / REPORT / NOTICE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373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ADBAD0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38912"/>
            <a:ext cx="1645920" cy="310896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F3F6FC"/>
                </a:solidFill>
                <a:latin typeface="Malgun Gothic"/>
              </a:rP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ADBAD0"/>
                </a:solidFill>
                <a:latin typeface="Malgun Gothic"/>
              </a:rPr>
              <a:t>프론트엔드부터 배포까지 사용한 주요 기술을 정리합니다.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88720" cy="73152"/>
          </a:xfrm>
          <a:prstGeom prst="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5440680" cy="146304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130552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3F6FC"/>
                </a:solidFill>
                <a:latin typeface="Malgun Gothic"/>
              </a:rP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496312"/>
            <a:ext cx="1014984" cy="256032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9384" y="2496312"/>
            <a:ext cx="914400" cy="256032"/>
          </a:xfrm>
          <a:prstGeom prst="round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MUI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496312"/>
            <a:ext cx="1216152" cy="256032"/>
          </a:xfrm>
          <a:prstGeom prst="roundRect">
            <a:avLst/>
          </a:prstGeom>
          <a:solidFill>
            <a:srgbClr val="B184FF"/>
          </a:solidFill>
          <a:ln w="16510">
            <a:solidFill>
              <a:srgbClr val="B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Zustand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496312"/>
            <a:ext cx="1014984" cy="256032"/>
          </a:xfrm>
          <a:prstGeom prst="round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Axios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965960"/>
            <a:ext cx="5440680" cy="146304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30552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3F6FC"/>
                </a:solidFill>
                <a:latin typeface="Malgun Gothic"/>
              </a:rPr>
              <a:t>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496312"/>
            <a:ext cx="914400" cy="256032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Java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43216" y="2496312"/>
            <a:ext cx="1618488" cy="256032"/>
          </a:xfrm>
          <a:prstGeom prst="round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Spring Boot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496312"/>
            <a:ext cx="1216152" cy="256032"/>
          </a:xfrm>
          <a:prstGeom prst="roundRect">
            <a:avLst/>
          </a:prstGeom>
          <a:solidFill>
            <a:srgbClr val="B184FF"/>
          </a:solidFill>
          <a:ln w="16510">
            <a:solidFill>
              <a:srgbClr val="B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MyBatis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611880"/>
            <a:ext cx="5440680" cy="146304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776472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3F6FC"/>
                </a:solidFill>
                <a:latin typeface="Malgun Gothic"/>
              </a:rPr>
              <a:t>Realtime /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4142232"/>
            <a:ext cx="1417320" cy="256032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WebSocket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1720" y="4142232"/>
            <a:ext cx="1014984" cy="256032"/>
          </a:xfrm>
          <a:prstGeom prst="round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STOMP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142232"/>
            <a:ext cx="1014984" cy="256032"/>
          </a:xfrm>
          <a:prstGeom prst="roundRect">
            <a:avLst/>
          </a:prstGeom>
          <a:solidFill>
            <a:srgbClr val="B184FF"/>
          </a:solidFill>
          <a:ln w="16510">
            <a:solidFill>
              <a:srgbClr val="B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MySQL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4142232"/>
            <a:ext cx="1014984" cy="256032"/>
          </a:xfrm>
          <a:prstGeom prst="round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Redis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3611880"/>
            <a:ext cx="5440680" cy="146304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776472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3F6FC"/>
                </a:solidFill>
                <a:latin typeface="Malgun Gothic"/>
              </a:rPr>
              <a:t>Infra / Deploy / Chart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142232"/>
            <a:ext cx="1115568" cy="256032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AWS S3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44383" y="4142232"/>
            <a:ext cx="1316736" cy="256032"/>
          </a:xfrm>
          <a:prstGeom prst="round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Recharts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89136" y="4142232"/>
            <a:ext cx="1316736" cy="256032"/>
          </a:xfrm>
          <a:prstGeom prst="roundRect">
            <a:avLst/>
          </a:prstGeom>
          <a:solidFill>
            <a:srgbClr val="B184FF"/>
          </a:solidFill>
          <a:ln w="16510">
            <a:solidFill>
              <a:srgbClr val="B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Chart.js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526280"/>
            <a:ext cx="1115568" cy="256032"/>
          </a:xfrm>
          <a:prstGeom prst="round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Vercel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44383" y="4526280"/>
            <a:ext cx="914400" cy="256032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EC2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4526280"/>
            <a:ext cx="914400" cy="256032"/>
          </a:xfrm>
          <a:prstGeom prst="round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373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ADBAD0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38912"/>
            <a:ext cx="1645920" cy="310896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F3F6FC"/>
                </a:solidFill>
                <a:latin typeface="Malgun Gothic"/>
              </a:rPr>
              <a:t>기술적 특장점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ADBAD0"/>
                </a:solidFill>
                <a:latin typeface="Malgun Gothic"/>
              </a:rPr>
              <a:t>구현 품질과 운영 효율성을 동시에 높인 포인트를 정리합니다.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88720" cy="73152"/>
          </a:xfrm>
          <a:prstGeom prst="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337560" cy="150876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2148840"/>
            <a:ext cx="384048" cy="384048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4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07121F"/>
                </a:solidFill>
                <a:latin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130552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3F6FC"/>
                </a:solidFill>
                <a:latin typeface="Malgun Gothic"/>
              </a:rPr>
              <a:t>컴포넌트 기반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06039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20" b="0" i="0">
                <a:solidFill>
                  <a:srgbClr val="ADBAD0"/>
                </a:solidFill>
                <a:latin typeface="Malgun Gothic"/>
              </a:rPr>
              <a:t>재사용성과 유지보수성을 높였습니다.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42232" y="1965960"/>
            <a:ext cx="3337560" cy="150876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5112" y="2148840"/>
            <a:ext cx="384048" cy="384048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2203704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07121F"/>
                </a:solidFill>
                <a:latin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130552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3F6FC"/>
                </a:solidFill>
                <a:latin typeface="Malgun Gothic"/>
              </a:rPr>
              <a:t>useIsDesktop 반응형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606039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20" b="0" i="0">
                <a:solidFill>
                  <a:srgbClr val="ADBAD0"/>
                </a:solidFill>
                <a:latin typeface="Malgun Gothic"/>
              </a:rPr>
              <a:t>데스크톱과 모바일을 자연스럽게 분기합니다.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17536" y="1965960"/>
            <a:ext cx="3337560" cy="150876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00415" y="2148840"/>
            <a:ext cx="384048" cy="384048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0415" y="2203704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07121F"/>
                </a:solidFill>
                <a:latin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5" y="2130552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3F6FC"/>
                </a:solidFill>
                <a:latin typeface="Malgun Gothic"/>
              </a:rPr>
              <a:t>RBAC 권한 제어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8704" y="2606039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20" b="0" i="0">
                <a:solidFill>
                  <a:srgbClr val="ADBAD0"/>
                </a:solidFill>
                <a:latin typeface="Malgun Gothic"/>
              </a:rPr>
              <a:t>사용자와 관리자 권한을 체계적으로 관리합니다.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1"/>
            <a:ext cx="3337560" cy="150876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9808" y="4005072"/>
            <a:ext cx="384048" cy="384048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059935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07121F"/>
                </a:solidFill>
                <a:latin typeface="Malgun Gothi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3986783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3F6FC"/>
                </a:solidFill>
                <a:latin typeface="Malgun Gothic"/>
              </a:rPr>
              <a:t>S3 업로드 / 리사이징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46227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20" b="0" i="0">
                <a:solidFill>
                  <a:srgbClr val="ADBAD0"/>
                </a:solidFill>
                <a:latin typeface="Malgun Gothic"/>
              </a:rPr>
              <a:t>파일 저장과 이미지 처리 흐름을 안정화했습니다.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42232" y="3822191"/>
            <a:ext cx="3337560" cy="150876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25112" y="4005072"/>
            <a:ext cx="384048" cy="384048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5112" y="4059935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07121F"/>
                </a:solidFill>
                <a:latin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3986783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3F6FC"/>
                </a:solidFill>
                <a:latin typeface="Malgun Gothic"/>
              </a:rPr>
              <a:t>SQL 마이그레이션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46227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20" b="0" i="0">
                <a:solidFill>
                  <a:srgbClr val="ADBAD0"/>
                </a:solidFill>
                <a:latin typeface="Malgun Gothic"/>
              </a:rPr>
              <a:t>스키마 변경 이력을 체계적으로 관리합니다.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17536" y="3822191"/>
            <a:ext cx="3337560" cy="150876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00415" y="4005072"/>
            <a:ext cx="384048" cy="384048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0415" y="4059935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07121F"/>
                </a:solidFill>
                <a:latin typeface="Malgun Gothic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5" y="3986783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3F6FC"/>
                </a:solidFill>
                <a:latin typeface="Malgun Gothic"/>
              </a:rPr>
              <a:t>관리자 통계 시각화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8704" y="446227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20" b="0" i="0">
                <a:solidFill>
                  <a:srgbClr val="ADBAD0"/>
                </a:solidFill>
                <a:latin typeface="Malgun Gothic"/>
              </a:rPr>
              <a:t>운영 데이터를 한눈에 확인할 수 있습니다.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373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ADBAD0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38912"/>
            <a:ext cx="1645920" cy="310896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F3F6FC"/>
                </a:solidFill>
                <a:latin typeface="Malgun Gothic"/>
              </a:rPr>
              <a:t>팀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ADBAD0"/>
                </a:solidFill>
                <a:latin typeface="Malgun Gothic"/>
              </a:rPr>
              <a:t>4인 개발팀의 담당 영역을 명확하게 정리합니다.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88720" cy="73152"/>
          </a:xfrm>
          <a:prstGeom prst="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93392"/>
            <a:ext cx="5486400" cy="155448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2194560"/>
            <a:ext cx="1051560" cy="292608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7121F"/>
                </a:solidFill>
                <a:latin typeface="Malgun Gothic"/>
              </a:rPr>
              <a:t>이병창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57984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F3F6FC"/>
                </a:solidFill>
                <a:latin typeface="Malgun Gothic"/>
              </a:rPr>
              <a:t>프론트엔드 리드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651760"/>
            <a:ext cx="4754880" cy="566928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ADBAD0"/>
                </a:solidFill>
                <a:latin typeface="Malgun Gothic"/>
              </a:rPr>
              <a:t>공통 UI / 피드 / 게시글 / 검색 / 프로필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993392"/>
            <a:ext cx="5486400" cy="155448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56248" y="2194560"/>
            <a:ext cx="1051560" cy="292608"/>
          </a:xfrm>
          <a:prstGeom prst="round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7121F"/>
                </a:solidFill>
                <a:latin typeface="Malgun Gothic"/>
              </a:rPr>
              <a:t>양찬이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0104" y="2157984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F3F6FC"/>
                </a:solidFill>
                <a:latin typeface="Malgun Gothic"/>
              </a:rPr>
              <a:t>백엔드 핵심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651760"/>
            <a:ext cx="4754880" cy="566928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ADBAD0"/>
                </a:solidFill>
                <a:latin typeface="Malgun Gothic"/>
              </a:rPr>
              <a:t>인증 / 계정 관리 / 소셜 로그인 / S3 파일 관리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5486400" cy="155448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B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" y="4023359"/>
            <a:ext cx="1051560" cy="292608"/>
          </a:xfrm>
          <a:prstGeom prst="roundRect">
            <a:avLst/>
          </a:prstGeom>
          <a:solidFill>
            <a:srgbClr val="B184FF"/>
          </a:solidFill>
          <a:ln w="16510">
            <a:solidFill>
              <a:srgbClr val="B1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7121F"/>
                </a:solidFill>
                <a:latin typeface="Malgun Gothic"/>
              </a:rPr>
              <a:t>성태경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986783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F3F6FC"/>
                </a:solidFill>
                <a:latin typeface="Malgun Gothic"/>
              </a:rPr>
              <a:t>실시간 통신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480559"/>
            <a:ext cx="4754880" cy="566928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ADBAD0"/>
                </a:solidFill>
                <a:latin typeface="Malgun Gothic"/>
              </a:rPr>
              <a:t>채팅 / 알림 / 좋아요·댓글 상호작용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2" y="3822191"/>
            <a:ext cx="5486400" cy="155448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FFC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56248" y="4023359"/>
            <a:ext cx="1051560" cy="292608"/>
          </a:xfrm>
          <a:prstGeom prst="roundRect">
            <a:avLst/>
          </a:prstGeom>
          <a:solidFill>
            <a:srgbClr val="FFCC70"/>
          </a:solidFill>
          <a:ln w="16510">
            <a:solidFill>
              <a:srgbClr val="FFC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7121F"/>
                </a:solidFill>
                <a:latin typeface="Malgun Gothic"/>
              </a:rPr>
              <a:t>문건우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0104" y="3986783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F3F6FC"/>
                </a:solidFill>
                <a:latin typeface="Malgun Gothic"/>
              </a:rPr>
              <a:t>관리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4480559"/>
            <a:ext cx="4754880" cy="566928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ADBAD0"/>
                </a:solidFill>
                <a:latin typeface="Malgun Gothic"/>
              </a:rPr>
              <a:t>대시보드 / 회원·콘텐츠·신고·통계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373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ADBAD0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38912"/>
            <a:ext cx="1645920" cy="310896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F3F6FC"/>
                </a:solidFill>
                <a:latin typeface="Malgun Gothic"/>
              </a:rPr>
              <a:t>구현 완료 및 제외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ADBAD0"/>
                </a:solidFill>
                <a:latin typeface="Malgun Gothic"/>
              </a:rPr>
              <a:t>무엇을 구현했고, 무엇을 제외했는지 결과와 이유를 함께 정리합니다.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88720" cy="73152"/>
          </a:xfrm>
          <a:prstGeom prst="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93392"/>
            <a:ext cx="5486400" cy="416052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4FD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212848"/>
            <a:ext cx="1143000" cy="292608"/>
          </a:xfrm>
          <a:prstGeom prst="roundRect">
            <a:avLst/>
          </a:prstGeom>
          <a:solidFill>
            <a:srgbClr val="4FDB9E"/>
          </a:solidFill>
          <a:ln w="16510">
            <a:solidFill>
              <a:srgbClr val="4FD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7121F"/>
                </a:solidFill>
                <a:latin typeface="Malgun Gothic"/>
              </a:rPr>
              <a:t>구현 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33472"/>
            <a:ext cx="4389120" cy="20116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핵심 사용자 기능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실시간 채팅 / 알림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관리자 시스템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게시글 / 검색 / 프로필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3F6FC"/>
                </a:solidFill>
                <a:latin typeface="Malgun Gothic"/>
              </a:rPr>
              <a:t>서비스의 핵심 사용 흐름은 모두 구현 완료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93392"/>
            <a:ext cx="5486400" cy="4160520"/>
          </a:xfrm>
          <a:prstGeom prst="roundRect">
            <a:avLst/>
          </a:prstGeom>
          <a:solidFill>
            <a:srgbClr val="0D182B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82512" y="2212848"/>
            <a:ext cx="1143000" cy="292608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구현 제외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633472"/>
            <a:ext cx="4389120" cy="20116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알림 설정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백업 관리</a:t>
            </a:r>
          </a:p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ADBAD0"/>
                </a:solidFill>
                <a:latin typeface="Malgun Gothic"/>
              </a:rPr>
              <a:t>• 시스템 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480060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3F6FC"/>
                </a:solidFill>
                <a:latin typeface="Malgun Gothic"/>
              </a:rPr>
              <a:t>사유: 일정과 서비스 구조상 우선순위 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373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ADBAD0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566928"/>
            <a:ext cx="1508760" cy="310896"/>
          </a:xfrm>
          <a:prstGeom prst="round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7121F"/>
                </a:solidFill>
                <a:latin typeface="Malgun Gothic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 i="0">
                <a:solidFill>
                  <a:srgbClr val="F3F6FC"/>
                </a:solidFill>
                <a:latin typeface="Malgun Gothic"/>
              </a:rPr>
              <a:t>MoodCast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874519"/>
            <a:ext cx="5029200" cy="420624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B184FF"/>
                </a:solidFill>
                <a:latin typeface="Malgun Gothic"/>
              </a:rPr>
              <a:t>감정 기반 소통을 중심으로 한 SNS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2487168"/>
            <a:ext cx="4937760" cy="10972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F3F6FC"/>
                </a:solidFill>
                <a:latin typeface="Malgun Gothic"/>
              </a:rPr>
              <a:t>사용자 기능과 관리자 기능을 모두 갖춘</a:t>
            </a:r>
          </a:p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F3F6FC"/>
                </a:solidFill>
                <a:latin typeface="Malgun Gothic"/>
              </a:rPr>
              <a:t>완성형 프로젝트입니다.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3895344"/>
            <a:ext cx="4754880" cy="749808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ADBAD0"/>
                </a:solidFill>
                <a:latin typeface="Malgun Gothic"/>
              </a:rPr>
              <a:t>실시간 채팅, 알림, 검색, 피드, 관리자 운영까지</a:t>
            </a:r>
          </a:p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ADBAD0"/>
                </a:solidFill>
                <a:latin typeface="Malgun Gothic"/>
              </a:rPr>
              <a:t>서비스 전반의 흐름을 직접 구현했습니다.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5047488"/>
            <a:ext cx="1874519" cy="310896"/>
          </a:xfrm>
          <a:prstGeom prst="roundRect">
            <a:avLst/>
          </a:prstGeom>
          <a:solidFill>
            <a:srgbClr val="7D5DFF"/>
          </a:solidFill>
          <a:ln w="16510">
            <a:solidFill>
              <a:srgbClr val="7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3F6FC"/>
                </a:solidFill>
                <a:latin typeface="Malgun Gothic"/>
              </a:rPr>
              <a:t>Thank you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804672"/>
            <a:ext cx="5897880" cy="5440680"/>
          </a:xfrm>
          <a:prstGeom prst="roundRect">
            <a:avLst/>
          </a:prstGeom>
          <a:solidFill>
            <a:srgbClr val="122136"/>
          </a:solidFill>
          <a:ln w="16510">
            <a:solidFill>
              <a:srgbClr val="394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42432" y="877824"/>
            <a:ext cx="5751576" cy="5294376"/>
          </a:xfrm>
          <a:prstGeom prst="roundRect">
            <a:avLst/>
          </a:prstGeom>
          <a:solidFill>
            <a:srgbClr val="000000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33872" y="950976"/>
            <a:ext cx="1828800" cy="256032"/>
          </a:xfrm>
          <a:prstGeom prst="roundRect">
            <a:avLst/>
          </a:prstGeom>
          <a:solidFill>
            <a:srgbClr val="3DF4C4"/>
          </a:solidFill>
          <a:ln w="16510">
            <a:solidFill>
              <a:srgbClr val="3DF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7121F"/>
                </a:solidFill>
                <a:latin typeface="Malgun Gothic"/>
              </a:rPr>
              <a:t>KEY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373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ADBAD0"/>
                </a:solidFill>
                <a:latin typeface="Malgun Gothic"/>
              </a:rPr>
              <a:t>12</a:t>
            </a:r>
          </a:p>
        </p:txBody>
      </p:sp>
      <p:pic>
        <p:nvPicPr>
          <p:cNvPr id="14" name="Picture 13" descr="hero_cover_fix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1703679"/>
            <a:ext cx="5751576" cy="36426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